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74" r:id="rId2"/>
    <p:sldId id="260" r:id="rId3"/>
    <p:sldId id="263" r:id="rId4"/>
    <p:sldId id="264" r:id="rId5"/>
    <p:sldId id="273" r:id="rId6"/>
    <p:sldId id="268" r:id="rId7"/>
    <p:sldId id="272" r:id="rId8"/>
    <p:sldId id="270" r:id="rId9"/>
    <p:sldId id="271" r:id="rId10"/>
    <p:sldId id="261" r:id="rId11"/>
    <p:sldId id="269" r:id="rId12"/>
  </p:sldIdLst>
  <p:sldSz cx="12192000" cy="6858000"/>
  <p:notesSz cx="6797675" cy="98742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5427"/>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5427"/>
          </a:xfrm>
          <a:prstGeom prst="rect">
            <a:avLst/>
          </a:prstGeom>
        </p:spPr>
        <p:txBody>
          <a:bodyPr vert="horz" lIns="91440" tIns="45720" rIns="91440" bIns="45720" rtlCol="0"/>
          <a:lstStyle>
            <a:lvl1pPr algn="r">
              <a:defRPr sz="1200"/>
            </a:lvl1pPr>
          </a:lstStyle>
          <a:p>
            <a:fld id="{E9A30BF6-7621-430F-BF1D-D19D812B588C}" type="datetimeFigureOut">
              <a:rPr lang="en-GB" smtClean="0"/>
              <a:t>03/10/2026</a:t>
            </a:fld>
            <a:endParaRPr lang="en-GB"/>
          </a:p>
        </p:txBody>
      </p:sp>
      <p:sp>
        <p:nvSpPr>
          <p:cNvPr id="4" name="Footer Placeholder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378824"/>
            <a:ext cx="2945659" cy="495426"/>
          </a:xfrm>
          <a:prstGeom prst="rect">
            <a:avLst/>
          </a:prstGeom>
        </p:spPr>
        <p:txBody>
          <a:bodyPr vert="horz" lIns="91440" tIns="45720" rIns="91440" bIns="45720" rtlCol="0" anchor="b"/>
          <a:lstStyle>
            <a:lvl1pPr algn="r">
              <a:defRPr sz="1200"/>
            </a:lvl1pPr>
          </a:lstStyle>
          <a:p>
            <a:fld id="{4ED5777D-0745-4AE3-89C2-273EE7161840}" type="slidenum">
              <a:rPr lang="en-GB" smtClean="0"/>
              <a:t>‹#›</a:t>
            </a:fld>
            <a:endParaRPr lang="en-GB"/>
          </a:p>
        </p:txBody>
      </p:sp>
    </p:spTree>
    <p:extLst>
      <p:ext uri="{BB962C8B-B14F-4D97-AF65-F5344CB8AC3E}">
        <p14:creationId xmlns:p14="http://schemas.microsoft.com/office/powerpoint/2010/main" val="182067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4958" cy="49576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1098" y="1"/>
            <a:ext cx="2944958" cy="495765"/>
          </a:xfrm>
          <a:prstGeom prst="rect">
            <a:avLst/>
          </a:prstGeom>
        </p:spPr>
        <p:txBody>
          <a:bodyPr vert="horz" lIns="91440" tIns="45720" rIns="91440" bIns="45720" rtlCol="0"/>
          <a:lstStyle>
            <a:lvl1pPr algn="r">
              <a:defRPr sz="1200"/>
            </a:lvl1pPr>
          </a:lstStyle>
          <a:p>
            <a:fld id="{819D3626-7678-463A-B931-DA160CFBCF66}" type="datetimeFigureOut">
              <a:rPr lang="en-GB" smtClean="0"/>
              <a:t>03/10/2026</a:t>
            </a:fld>
            <a:endParaRPr lang="en-GB"/>
          </a:p>
        </p:txBody>
      </p:sp>
      <p:sp>
        <p:nvSpPr>
          <p:cNvPr id="4" name="Slide Image Placeholder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606" y="4752398"/>
            <a:ext cx="5438464" cy="388717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378485"/>
            <a:ext cx="2944958" cy="49576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1098" y="9378485"/>
            <a:ext cx="2944958" cy="495765"/>
          </a:xfrm>
          <a:prstGeom prst="rect">
            <a:avLst/>
          </a:prstGeom>
        </p:spPr>
        <p:txBody>
          <a:bodyPr vert="horz" lIns="91440" tIns="45720" rIns="91440" bIns="45720" rtlCol="0" anchor="b"/>
          <a:lstStyle>
            <a:lvl1pPr algn="r">
              <a:defRPr sz="1200"/>
            </a:lvl1pPr>
          </a:lstStyle>
          <a:p>
            <a:fld id="{E7FBE6E5-A34C-44AB-8866-F8A3F4B85DD6}" type="slidenum">
              <a:rPr lang="en-GB" smtClean="0"/>
              <a:t>‹#›</a:t>
            </a:fld>
            <a:endParaRPr lang="en-GB"/>
          </a:p>
        </p:txBody>
      </p:sp>
    </p:spTree>
    <p:extLst>
      <p:ext uri="{BB962C8B-B14F-4D97-AF65-F5344CB8AC3E}">
        <p14:creationId xmlns:p14="http://schemas.microsoft.com/office/powerpoint/2010/main" val="3049203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1CEFE56-E409-4611-84B6-78D55979C5E7}" type="datetime1">
              <a:rPr lang="en-GB" smtClean="0"/>
              <a:t>03/10/2026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15612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5301482-A7F7-44F1-A175-734AED33DA15}" type="datetime1">
              <a:rPr lang="en-GB" smtClean="0"/>
              <a:t>03/10/2026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403474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66DF6F9-F195-40B3-A65B-F390EA6476BF}" type="datetime1">
              <a:rPr lang="en-GB" smtClean="0"/>
              <a:t>03/10/2026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969365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63BBE8F-6F0A-4687-85B5-47336FB8B589}" type="datetime1">
              <a:rPr lang="en-GB" smtClean="0"/>
              <a:t>03/10/2026</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610307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9F2696A-03E5-48AD-BD16-61940EDEE003}" type="datetime1">
              <a:rPr lang="en-GB" smtClean="0"/>
              <a:t>03/10/2026</a:t>
            </a:fld>
            <a:endParaRPr lang="en-GB"/>
          </a:p>
        </p:txBody>
      </p:sp>
      <p:sp>
        <p:nvSpPr>
          <p:cNvPr id="8" name="Footer Placeholder 7"/>
          <p:cNvSpPr>
            <a:spLocks noGrp="1"/>
          </p:cNvSpPr>
          <p:nvPr>
            <p:ph type="ftr" sz="quarter" idx="11"/>
          </p:nvPr>
        </p:nvSpPr>
        <p:spPr/>
        <p:txBody>
          <a:bodyPr/>
          <a:lstStyle/>
          <a:p>
            <a:r>
              <a:rPr lang="en-US"/>
              <a:t>Information Technology Department / Seminar Presentation 2021</a:t>
            </a:r>
            <a:endParaRPr lang="en-GB"/>
          </a:p>
        </p:txBody>
      </p:sp>
      <p:sp>
        <p:nvSpPr>
          <p:cNvPr id="9" name="Slide Number Placeholder 8"/>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729004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FF28B43-AD91-4B0A-B352-8AD5E6AB1017}" type="datetime1">
              <a:rPr lang="en-GB" smtClean="0"/>
              <a:t>03/10/2026</a:t>
            </a:fld>
            <a:endParaRPr lang="en-GB"/>
          </a:p>
        </p:txBody>
      </p:sp>
      <p:sp>
        <p:nvSpPr>
          <p:cNvPr id="4" name="Footer Placeholder 3"/>
          <p:cNvSpPr>
            <a:spLocks noGrp="1"/>
          </p:cNvSpPr>
          <p:nvPr>
            <p:ph type="ftr" sz="quarter" idx="11"/>
          </p:nvPr>
        </p:nvSpPr>
        <p:spPr/>
        <p:txBody>
          <a:bodyPr/>
          <a:lstStyle/>
          <a:p>
            <a:r>
              <a:rPr lang="en-US"/>
              <a:t>Information Technology Department / Seminar Presentation 2021</a:t>
            </a:r>
            <a:endParaRPr lang="en-GB"/>
          </a:p>
        </p:txBody>
      </p:sp>
      <p:sp>
        <p:nvSpPr>
          <p:cNvPr id="5" name="Slide Number Placeholder 4"/>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1546299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D69C94-1FC0-41EC-9C0A-AB52040020ED}" type="datetime1">
              <a:rPr lang="en-GB" smtClean="0"/>
              <a:t>03/10/2026</a:t>
            </a:fld>
            <a:endParaRPr lang="en-GB"/>
          </a:p>
        </p:txBody>
      </p:sp>
      <p:sp>
        <p:nvSpPr>
          <p:cNvPr id="3" name="Footer Placeholder 2"/>
          <p:cNvSpPr>
            <a:spLocks noGrp="1"/>
          </p:cNvSpPr>
          <p:nvPr>
            <p:ph type="ftr" sz="quarter" idx="11"/>
          </p:nvPr>
        </p:nvSpPr>
        <p:spPr/>
        <p:txBody>
          <a:bodyPr/>
          <a:lstStyle/>
          <a:p>
            <a:r>
              <a:rPr lang="en-US"/>
              <a:t>Information Technology Department / Seminar Presentation 2021</a:t>
            </a:r>
            <a:endParaRPr lang="en-GB"/>
          </a:p>
        </p:txBody>
      </p:sp>
      <p:sp>
        <p:nvSpPr>
          <p:cNvPr id="4" name="Slide Number Placeholder 3"/>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673617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3F9D360-BA16-419B-BDF3-CE0285C51E50}" type="datetime1">
              <a:rPr lang="en-GB" smtClean="0"/>
              <a:t>03/10/2026</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2319867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A346B3-4381-474C-9C47-DF3F7EFD488B}" type="datetime1">
              <a:rPr lang="en-GB" smtClean="0"/>
              <a:t>03/10/2026</a:t>
            </a:fld>
            <a:endParaRPr lang="en-GB"/>
          </a:p>
        </p:txBody>
      </p:sp>
      <p:sp>
        <p:nvSpPr>
          <p:cNvPr id="6" name="Footer Placeholder 5"/>
          <p:cNvSpPr>
            <a:spLocks noGrp="1"/>
          </p:cNvSpPr>
          <p:nvPr>
            <p:ph type="ftr" sz="quarter" idx="11"/>
          </p:nvPr>
        </p:nvSpPr>
        <p:spPr/>
        <p:txBody>
          <a:bodyPr/>
          <a:lstStyle/>
          <a:p>
            <a:r>
              <a:rPr lang="en-US"/>
              <a:t>Information Technology Department / Seminar Presentation 2021</a:t>
            </a:r>
            <a:endParaRPr lang="en-GB"/>
          </a:p>
        </p:txBody>
      </p:sp>
      <p:sp>
        <p:nvSpPr>
          <p:cNvPr id="7" name="Slide Number Placeholder 6"/>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153821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0579F78-A794-45F8-B8CE-795CE3B27278}" type="datetime1">
              <a:rPr lang="en-GB" smtClean="0"/>
              <a:t>03/10/2026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726184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5349D5E-91C7-4E4C-AF67-67C7E168A5A4}" type="datetime1">
              <a:rPr lang="en-GB" smtClean="0"/>
              <a:t>03/10/2026</a:t>
            </a:fld>
            <a:endParaRPr lang="en-GB"/>
          </a:p>
        </p:txBody>
      </p:sp>
      <p:sp>
        <p:nvSpPr>
          <p:cNvPr id="5" name="Footer Placeholder 4"/>
          <p:cNvSpPr>
            <a:spLocks noGrp="1"/>
          </p:cNvSpPr>
          <p:nvPr>
            <p:ph type="ftr" sz="quarter" idx="11"/>
          </p:nvPr>
        </p:nvSpPr>
        <p:spPr/>
        <p:txBody>
          <a:bodyPr/>
          <a:lstStyle/>
          <a:p>
            <a:r>
              <a:rPr lang="en-US"/>
              <a:t>Information Technology Department / Seminar Presentation 2021</a:t>
            </a:r>
            <a:endParaRPr lang="en-GB"/>
          </a:p>
        </p:txBody>
      </p:sp>
      <p:sp>
        <p:nvSpPr>
          <p:cNvPr id="6" name="Slide Number Placeholder 5"/>
          <p:cNvSpPr>
            <a:spLocks noGrp="1"/>
          </p:cNvSpPr>
          <p:nvPr>
            <p:ph type="sldNum" sz="quarter" idx="12"/>
          </p:nvPr>
        </p:nvSpPr>
        <p:spPr/>
        <p:txBody>
          <a:bodyPr/>
          <a:lstStyle/>
          <a:p>
            <a:fld id="{60CB7500-84E7-42C8-9A57-AC33187A24A8}" type="slidenum">
              <a:rPr lang="en-GB" smtClean="0"/>
              <a:t>‹#›</a:t>
            </a:fld>
            <a:endParaRPr lang="en-GB"/>
          </a:p>
        </p:txBody>
      </p:sp>
    </p:spTree>
    <p:extLst>
      <p:ext uri="{BB962C8B-B14F-4D97-AF65-F5344CB8AC3E}">
        <p14:creationId xmlns:p14="http://schemas.microsoft.com/office/powerpoint/2010/main" val="3880169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A14E86-C9A5-4B56-BCDB-225823666A33}" type="datetime1">
              <a:rPr lang="en-GB" smtClean="0"/>
              <a:t>03/10/2026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Information Technology Department / Seminar Presentation 2021</a:t>
            </a:r>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CB7500-84E7-42C8-9A57-AC33187A24A8}" type="slidenum">
              <a:rPr lang="en-GB" smtClean="0"/>
              <a:t>‹#›</a:t>
            </a:fld>
            <a:endParaRPr lang="en-GB"/>
          </a:p>
        </p:txBody>
      </p:sp>
    </p:spTree>
    <p:extLst>
      <p:ext uri="{BB962C8B-B14F-4D97-AF65-F5344CB8AC3E}">
        <p14:creationId xmlns:p14="http://schemas.microsoft.com/office/powerpoint/2010/main" val="149582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593" y="972354"/>
            <a:ext cx="10515600" cy="1325563"/>
          </a:xfrm>
        </p:spPr>
        <p:txBody>
          <a:bodyPr>
            <a:normAutofit fontScale="90000"/>
          </a:bodyPr>
          <a:lstStyle/>
          <a:p>
            <a:pPr algn="ctr"/>
            <a:r>
              <a:rPr lang="en-GB" sz="4000" dirty="0">
                <a:latin typeface="Corbel" panose="020B0503020204020204" pitchFamily="34" charset="0"/>
                <a:cs typeface="Arial" panose="020B0604020202020204" pitchFamily="34" charset="0"/>
              </a:rPr>
              <a:t>DESIGN AND IMPLEMENTATION OF A FAKE NEWS DETECTION SYSTEM USING NATURAL LANGUAGE PROCESSING</a:t>
            </a:r>
          </a:p>
        </p:txBody>
      </p:sp>
      <p:sp>
        <p:nvSpPr>
          <p:cNvPr id="3" name="Content Placeholder 2"/>
          <p:cNvSpPr>
            <a:spLocks noGrp="1"/>
          </p:cNvSpPr>
          <p:nvPr>
            <p:ph idx="1"/>
          </p:nvPr>
        </p:nvSpPr>
        <p:spPr>
          <a:xfrm>
            <a:off x="1974272" y="3026536"/>
            <a:ext cx="9011407" cy="2859110"/>
          </a:xfrm>
        </p:spPr>
        <p:txBody>
          <a:bodyPr>
            <a:normAutofit/>
          </a:bodyPr>
          <a:lstStyle/>
          <a:p>
            <a:pPr marL="0" indent="0">
              <a:buNone/>
            </a:pPr>
            <a:r>
              <a:rPr lang="en-GB" sz="3200" dirty="0">
                <a:solidFill>
                  <a:srgbClr val="FF0000"/>
                </a:solidFill>
                <a:latin typeface="Corbel" panose="020B0503020204020204" pitchFamily="34" charset="0"/>
                <a:cs typeface="Arial" panose="020B0604020202020204" pitchFamily="34" charset="0"/>
              </a:rPr>
              <a:t>JOSEPH EZINWA EMMANUEL</a:t>
            </a:r>
          </a:p>
          <a:p>
            <a:pPr marL="0" indent="0">
              <a:buNone/>
            </a:pPr>
            <a:r>
              <a:rPr lang="en-GB" sz="3200" dirty="0">
                <a:solidFill>
                  <a:srgbClr val="FF0000"/>
                </a:solidFill>
                <a:latin typeface="Corbel" panose="020B0503020204020204" pitchFamily="34" charset="0"/>
                <a:cs typeface="Arial" panose="020B0604020202020204" pitchFamily="34" charset="0"/>
              </a:rPr>
              <a:t>20211274192</a:t>
            </a:r>
          </a:p>
          <a:p>
            <a:pPr marL="0" indent="0">
              <a:buNone/>
            </a:pPr>
            <a:endParaRPr lang="en-GB" dirty="0">
              <a:solidFill>
                <a:srgbClr val="FF0000"/>
              </a:solidFill>
              <a:latin typeface="Corbel" panose="020B0503020204020204" pitchFamily="34" charset="0"/>
              <a:cs typeface="Arial" panose="020B0604020202020204" pitchFamily="34" charset="0"/>
            </a:endParaRPr>
          </a:p>
          <a:p>
            <a:pPr marL="0" indent="0">
              <a:buNone/>
            </a:pPr>
            <a:endParaRPr lang="en-GB" dirty="0">
              <a:solidFill>
                <a:srgbClr val="FF0000"/>
              </a:solidFill>
              <a:latin typeface="Corbel" panose="020B0503020204020204" pitchFamily="34" charset="0"/>
              <a:cs typeface="Arial" panose="020B0604020202020204" pitchFamily="34" charset="0"/>
            </a:endParaRPr>
          </a:p>
          <a:p>
            <a:pPr marL="0" indent="0">
              <a:buNone/>
            </a:pPr>
            <a:r>
              <a:rPr lang="en-GB" sz="3200" dirty="0">
                <a:solidFill>
                  <a:srgbClr val="0070C0"/>
                </a:solidFill>
                <a:latin typeface="Corbel" panose="020B0503020204020204" pitchFamily="34" charset="0"/>
                <a:cs typeface="Arial" panose="020B0604020202020204" pitchFamily="34" charset="0"/>
              </a:rPr>
              <a:t>SUPERVISOR: Dr. A. O. </a:t>
            </a:r>
            <a:r>
              <a:rPr lang="en-GB" sz="3200" dirty="0" err="1">
                <a:solidFill>
                  <a:srgbClr val="0070C0"/>
                </a:solidFill>
                <a:latin typeface="Corbel" panose="020B0503020204020204" pitchFamily="34" charset="0"/>
                <a:cs typeface="Arial" panose="020B0604020202020204" pitchFamily="34" charset="0"/>
              </a:rPr>
              <a:t>Ovwonuri</a:t>
            </a:r>
            <a:r>
              <a:rPr lang="en-GB" sz="3200" dirty="0">
                <a:solidFill>
                  <a:srgbClr val="0070C0"/>
                </a:solidFill>
                <a:latin typeface="Corbel" panose="020B0503020204020204" pitchFamily="34" charset="0"/>
                <a:cs typeface="Arial" panose="020B0604020202020204" pitchFamily="34" charset="0"/>
              </a:rPr>
              <a:t>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48267" y="77274"/>
            <a:ext cx="683231" cy="739239"/>
          </a:xfrm>
          <a:prstGeom prst="rect">
            <a:avLst/>
          </a:prstGeom>
        </p:spPr>
      </p:pic>
      <p:sp>
        <p:nvSpPr>
          <p:cNvPr id="5" name="Footer Placeholder 4"/>
          <p:cNvSpPr>
            <a:spLocks noGrp="1"/>
          </p:cNvSpPr>
          <p:nvPr>
            <p:ph type="ftr" sz="quarter" idx="11"/>
          </p:nvPr>
        </p:nvSpPr>
        <p:spPr/>
        <p:txBody>
          <a:bodyPr/>
          <a:lstStyle/>
          <a:p>
            <a:r>
              <a:rPr lang="en-US" dirty="0"/>
              <a:t>Department of Software Engineering -  project ©2025</a:t>
            </a:r>
            <a:endParaRPr lang="en-GB" dirty="0"/>
          </a:p>
        </p:txBody>
      </p:sp>
      <p:sp>
        <p:nvSpPr>
          <p:cNvPr id="6" name="Slide Number Placeholder 5">
            <a:extLst>
              <a:ext uri="{FF2B5EF4-FFF2-40B4-BE49-F238E27FC236}">
                <a16:creationId xmlns:a16="http://schemas.microsoft.com/office/drawing/2014/main" id="{D5A1967E-D55A-4103-86BC-123CF935D49E}"/>
              </a:ext>
            </a:extLst>
          </p:cNvPr>
          <p:cNvSpPr>
            <a:spLocks noGrp="1"/>
          </p:cNvSpPr>
          <p:nvPr>
            <p:ph type="sldNum" sz="quarter" idx="12"/>
          </p:nvPr>
        </p:nvSpPr>
        <p:spPr/>
        <p:txBody>
          <a:bodyPr/>
          <a:lstStyle/>
          <a:p>
            <a:fld id="{60CB7500-84E7-42C8-9A57-AC33187A24A8}" type="slidenum">
              <a:rPr lang="en-GB" smtClean="0"/>
              <a:t>1</a:t>
            </a:fld>
            <a:endParaRPr lang="en-GB" dirty="0"/>
          </a:p>
        </p:txBody>
      </p:sp>
      <p:pic>
        <p:nvPicPr>
          <p:cNvPr id="8" name="Picture 7" descr="A logo with green letters and a chip&#10;&#10;Description automatically generated">
            <a:extLst>
              <a:ext uri="{FF2B5EF4-FFF2-40B4-BE49-F238E27FC236}">
                <a16:creationId xmlns:a16="http://schemas.microsoft.com/office/drawing/2014/main" id="{10E194A0-085F-F8A6-417A-90D9FB3701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243" y="191759"/>
            <a:ext cx="1028700" cy="624754"/>
          </a:xfrm>
          <a:prstGeom prst="rect">
            <a:avLst/>
          </a:prstGeom>
        </p:spPr>
      </p:pic>
    </p:spTree>
    <p:extLst>
      <p:ext uri="{BB962C8B-B14F-4D97-AF65-F5344CB8AC3E}">
        <p14:creationId xmlns:p14="http://schemas.microsoft.com/office/powerpoint/2010/main" val="2530083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dirty="0"/>
              <a:t>INTRODUCTION</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75946" y="48783"/>
            <a:ext cx="828226" cy="896120"/>
          </a:xfrm>
          <a:prstGeom prst="rect">
            <a:avLst/>
          </a:prstGeom>
        </p:spPr>
      </p:pic>
      <p:sp>
        <p:nvSpPr>
          <p:cNvPr id="4" name="Footer Placeholder 3"/>
          <p:cNvSpPr>
            <a:spLocks noGrp="1"/>
          </p:cNvSpPr>
          <p:nvPr>
            <p:ph type="ftr" sz="quarter" idx="11"/>
          </p:nvPr>
        </p:nvSpPr>
        <p:spPr/>
        <p:txBody>
          <a:bodyPr/>
          <a:lstStyle/>
          <a:p>
            <a:r>
              <a:t>Department of Software Engineering - Project 2025</a:t>
            </a:r>
          </a:p>
        </p:txBody>
      </p:sp>
      <p:sp>
        <p:nvSpPr>
          <p:cNvPr id="5" name="Slide Number Placeholder 4">
            <a:extLst>
              <a:ext uri="{FF2B5EF4-FFF2-40B4-BE49-F238E27FC236}">
                <a16:creationId xmlns:a16="http://schemas.microsoft.com/office/drawing/2014/main" id="{C9AC4450-3E97-41C5-A1D7-8A59B3719115}"/>
              </a:ext>
            </a:extLst>
          </p:cNvPr>
          <p:cNvSpPr>
            <a:spLocks noGrp="1"/>
          </p:cNvSpPr>
          <p:nvPr>
            <p:ph type="sldNum" sz="quarter" idx="12"/>
          </p:nvPr>
        </p:nvSpPr>
        <p:spPr/>
        <p:txBody>
          <a:bodyPr/>
          <a:lstStyle/>
          <a:p>
            <a:r>
              <a:t>2</a:t>
            </a:r>
          </a:p>
        </p:txBody>
      </p:sp>
      <p:pic>
        <p:nvPicPr>
          <p:cNvPr id="7" name="Picture 6" descr="A logo with green letters and a chip&#10;&#10;Description automatically generated">
            <a:extLst>
              <a:ext uri="{FF2B5EF4-FFF2-40B4-BE49-F238E27FC236}">
                <a16:creationId xmlns:a16="http://schemas.microsoft.com/office/drawing/2014/main" id="{1E3A0C06-B168-5029-B395-43CBED6961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202497"/>
            <a:ext cx="1028700" cy="476250"/>
          </a:xfrm>
          <a:prstGeom prst="rect">
            <a:avLst/>
          </a:prstGeom>
        </p:spPr>
      </p:pic>
      <p:sp>
        <p:nvSpPr>
          <p:cNvPr id="8" name="TextBox 7"/>
          <p:cNvSpPr txBox="1"/>
          <p:nvPr/>
        </p:nvSpPr>
        <p:spPr>
          <a:xfrm>
            <a:off x="868680" y="1481328"/>
            <a:ext cx="10424160" cy="4043671"/>
          </a:xfrm>
          <a:prstGeom prst="rect">
            <a:avLst/>
          </a:prstGeom>
          <a:noFill/>
        </p:spPr>
        <p:txBody>
          <a:bodyPr wrap="square" lIns="73152" tIns="54864" rIns="73152" bIns="36576" anchor="t">
            <a:spAutoFit/>
          </a:bodyPr>
          <a:lstStyle/>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Fake news can spread quickly, while manual fact-checking takes time.</a:t>
            </a:r>
          </a:p>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This study investigates NLP models for classifying news article text.</a:t>
            </a:r>
          </a:p>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It compares a TF-IDF and Logistic Regression baseline with fine-tuned </a:t>
            </a:r>
            <a:r>
              <a:rPr dirty="0" err="1"/>
              <a:t>DistilBERT</a:t>
            </a:r>
            <a:r>
              <a:rPr dirty="0"/>
              <a:t>.</a:t>
            </a:r>
          </a:p>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A separate evidence-retrieval workflow finds current sources for selected claims.</a:t>
            </a:r>
          </a:p>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The result is a web-based decision-support prototype; it does not decide truth conclusively.</a:t>
            </a:r>
          </a:p>
        </p:txBody>
      </p:sp>
    </p:spTree>
    <p:extLst>
      <p:ext uri="{BB962C8B-B14F-4D97-AF65-F5344CB8AC3E}">
        <p14:creationId xmlns:p14="http://schemas.microsoft.com/office/powerpoint/2010/main" val="3162979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t>PROBLEM STATEMENT</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81968" y="77275"/>
            <a:ext cx="657803" cy="711726"/>
          </a:xfrm>
          <a:prstGeom prst="rect">
            <a:avLst/>
          </a:prstGeom>
        </p:spPr>
      </p:pic>
      <p:sp>
        <p:nvSpPr>
          <p:cNvPr id="4" name="Footer Placeholder 3"/>
          <p:cNvSpPr>
            <a:spLocks noGrp="1"/>
          </p:cNvSpPr>
          <p:nvPr>
            <p:ph type="ftr" sz="quarter" idx="11"/>
          </p:nvPr>
        </p:nvSpPr>
        <p:spPr/>
        <p:txBody>
          <a:bodyPr/>
          <a:lstStyle/>
          <a:p>
            <a:r>
              <a:t>Department of Software Engineering - Project 2025</a:t>
            </a:r>
          </a:p>
        </p:txBody>
      </p:sp>
      <p:sp>
        <p:nvSpPr>
          <p:cNvPr id="5" name="Slide Number Placeholder 4">
            <a:extLst>
              <a:ext uri="{FF2B5EF4-FFF2-40B4-BE49-F238E27FC236}">
                <a16:creationId xmlns:a16="http://schemas.microsoft.com/office/drawing/2014/main" id="{286CECEC-CB3B-4765-9B37-346AE47686A2}"/>
              </a:ext>
            </a:extLst>
          </p:cNvPr>
          <p:cNvSpPr>
            <a:spLocks noGrp="1"/>
          </p:cNvSpPr>
          <p:nvPr>
            <p:ph type="sldNum" sz="quarter" idx="12"/>
          </p:nvPr>
        </p:nvSpPr>
        <p:spPr/>
        <p:txBody>
          <a:bodyPr/>
          <a:lstStyle/>
          <a:p>
            <a:r>
              <a:t>3</a:t>
            </a:r>
          </a:p>
        </p:txBody>
      </p:sp>
      <p:pic>
        <p:nvPicPr>
          <p:cNvPr id="7" name="Picture 6" descr="A logo with green letters and a chip&#10;&#10;Description automatically generated">
            <a:extLst>
              <a:ext uri="{FF2B5EF4-FFF2-40B4-BE49-F238E27FC236}">
                <a16:creationId xmlns:a16="http://schemas.microsoft.com/office/drawing/2014/main" id="{3FE0C3BD-484F-C505-169C-C95D682AE6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77273"/>
            <a:ext cx="1028700" cy="511767"/>
          </a:xfrm>
          <a:prstGeom prst="rect">
            <a:avLst/>
          </a:prstGeom>
        </p:spPr>
      </p:pic>
      <p:sp>
        <p:nvSpPr>
          <p:cNvPr id="8" name="TextBox 7"/>
          <p:cNvSpPr txBox="1"/>
          <p:nvPr/>
        </p:nvSpPr>
        <p:spPr>
          <a:xfrm>
            <a:off x="868680" y="1481328"/>
            <a:ext cx="10424160" cy="5105500"/>
          </a:xfrm>
          <a:prstGeom prst="rect">
            <a:avLst/>
          </a:prstGeom>
          <a:noFill/>
        </p:spPr>
        <p:txBody>
          <a:bodyPr wrap="square" lIns="73152" tIns="54864" rIns="73152" bIns="36576" anchor="t">
            <a:spAutoFit/>
          </a:bodyPr>
          <a:lstStyle/>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Readers may encounter misleading reports before reliable checks are available.</a:t>
            </a:r>
            <a:endParaRPr lang="en-US" dirty="0"/>
          </a:p>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Text classifiers can learn publisher or writing-style shortcuts instead of factual accuracy.</a:t>
            </a:r>
          </a:p>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High benchmark scores may not transfer to new publishers, topics, or current events.</a:t>
            </a:r>
          </a:p>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A model label alone provides no direct evidence for or against an article</a:t>
            </a:r>
            <a:r>
              <a:rPr lang="en-US" dirty="0"/>
              <a:t>'</a:t>
            </a:r>
            <a:r>
              <a:rPr dirty="0"/>
              <a:t>s claims.</a:t>
            </a:r>
          </a:p>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The study addresses the need to compare models and present their estimates separately from retrieved evidence.</a:t>
            </a:r>
          </a:p>
        </p:txBody>
      </p:sp>
    </p:spTree>
    <p:extLst>
      <p:ext uri="{BB962C8B-B14F-4D97-AF65-F5344CB8AC3E}">
        <p14:creationId xmlns:p14="http://schemas.microsoft.com/office/powerpoint/2010/main" val="1033389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dirty="0"/>
              <a:t>MAIN OBJECTIVES</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33355" y="67651"/>
            <a:ext cx="800964" cy="866623"/>
          </a:xfrm>
          <a:prstGeom prst="rect">
            <a:avLst/>
          </a:prstGeom>
        </p:spPr>
      </p:pic>
      <p:sp>
        <p:nvSpPr>
          <p:cNvPr id="4" name="Footer Placeholder 3"/>
          <p:cNvSpPr>
            <a:spLocks noGrp="1"/>
          </p:cNvSpPr>
          <p:nvPr>
            <p:ph type="ftr" sz="quarter" idx="11"/>
          </p:nvPr>
        </p:nvSpPr>
        <p:spPr/>
        <p:txBody>
          <a:bodyPr/>
          <a:lstStyle/>
          <a:p>
            <a:r>
              <a:t>Department of Software Engineering - Project 2025</a:t>
            </a:r>
          </a:p>
        </p:txBody>
      </p:sp>
      <p:sp>
        <p:nvSpPr>
          <p:cNvPr id="5" name="Slide Number Placeholder 4">
            <a:extLst>
              <a:ext uri="{FF2B5EF4-FFF2-40B4-BE49-F238E27FC236}">
                <a16:creationId xmlns:a16="http://schemas.microsoft.com/office/drawing/2014/main" id="{6D95DEBF-0917-4EDA-A968-A1187456EEEC}"/>
              </a:ext>
            </a:extLst>
          </p:cNvPr>
          <p:cNvSpPr>
            <a:spLocks noGrp="1"/>
          </p:cNvSpPr>
          <p:nvPr>
            <p:ph type="sldNum" sz="quarter" idx="12"/>
          </p:nvPr>
        </p:nvSpPr>
        <p:spPr/>
        <p:txBody>
          <a:bodyPr/>
          <a:lstStyle/>
          <a:p>
            <a:r>
              <a:t>4</a:t>
            </a:r>
          </a:p>
        </p:txBody>
      </p:sp>
      <p:pic>
        <p:nvPicPr>
          <p:cNvPr id="7" name="Picture 6" descr="A logo with green letters and a chip&#10;&#10;Description automatically generated">
            <a:extLst>
              <a:ext uri="{FF2B5EF4-FFF2-40B4-BE49-F238E27FC236}">
                <a16:creationId xmlns:a16="http://schemas.microsoft.com/office/drawing/2014/main" id="{7FCA6E0F-0184-C480-34F3-1B4150D388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2791"/>
            <a:ext cx="1028700" cy="476250"/>
          </a:xfrm>
          <a:prstGeom prst="rect">
            <a:avLst/>
          </a:prstGeom>
        </p:spPr>
      </p:pic>
      <p:sp>
        <p:nvSpPr>
          <p:cNvPr id="8" name="TextBox 7"/>
          <p:cNvSpPr txBox="1"/>
          <p:nvPr/>
        </p:nvSpPr>
        <p:spPr>
          <a:xfrm>
            <a:off x="868680" y="1481328"/>
            <a:ext cx="10424160" cy="800219"/>
          </a:xfrm>
          <a:prstGeom prst="rect">
            <a:avLst/>
          </a:prstGeom>
          <a:noFill/>
        </p:spPr>
        <p:txBody>
          <a:bodyPr wrap="square" lIns="73152" tIns="54864" rIns="73152" bIns="36576" anchor="t">
            <a:spAutoFit/>
          </a:bodyPr>
          <a:lstStyle/>
          <a:p>
            <a:pPr algn="l">
              <a:spcAft>
                <a:spcPts val="1600"/>
              </a:spcAft>
              <a:defRPr sz="2300">
                <a:solidFill>
                  <a:srgbClr val="000000"/>
                </a:solidFill>
                <a:latin typeface="Corbel"/>
              </a:defRPr>
            </a:pPr>
            <a:r>
              <a:rPr dirty="0"/>
              <a:t>To design and implement an NLP-based fake-news detection system that classifies article text and presents related evidence to support informed human review.</a:t>
            </a:r>
          </a:p>
        </p:txBody>
      </p:sp>
    </p:spTree>
    <p:extLst>
      <p:ext uri="{BB962C8B-B14F-4D97-AF65-F5344CB8AC3E}">
        <p14:creationId xmlns:p14="http://schemas.microsoft.com/office/powerpoint/2010/main" val="437069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235F5-2914-D425-F43E-2F6958DC56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920E3-81C3-05BC-5ABE-CD8473D0A04E}"/>
              </a:ext>
            </a:extLst>
          </p:cNvPr>
          <p:cNvSpPr txBox="1">
            <a:spLocks/>
          </p:cNvSpPr>
          <p:nvPr/>
        </p:nvSpPr>
        <p:spPr>
          <a:xfrm>
            <a:off x="1460091" y="233178"/>
            <a:ext cx="8700744"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dirty="0"/>
              <a:t>SPECIFIC OBJECTIVES</a:t>
            </a:r>
          </a:p>
        </p:txBody>
      </p:sp>
      <p:pic>
        <p:nvPicPr>
          <p:cNvPr id="3" name="Picture 2">
            <a:extLst>
              <a:ext uri="{FF2B5EF4-FFF2-40B4-BE49-F238E27FC236}">
                <a16:creationId xmlns:a16="http://schemas.microsoft.com/office/drawing/2014/main" id="{0841A8FA-946C-B1B9-5429-3953D51DBE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33355" y="67651"/>
            <a:ext cx="800964" cy="866623"/>
          </a:xfrm>
          <a:prstGeom prst="rect">
            <a:avLst/>
          </a:prstGeom>
        </p:spPr>
      </p:pic>
      <p:sp>
        <p:nvSpPr>
          <p:cNvPr id="4" name="Footer Placeholder 3">
            <a:extLst>
              <a:ext uri="{FF2B5EF4-FFF2-40B4-BE49-F238E27FC236}">
                <a16:creationId xmlns:a16="http://schemas.microsoft.com/office/drawing/2014/main" id="{BAF6EF7A-F7CA-6E9E-8B93-9C9DFE45FF02}"/>
              </a:ext>
            </a:extLst>
          </p:cNvPr>
          <p:cNvSpPr>
            <a:spLocks noGrp="1"/>
          </p:cNvSpPr>
          <p:nvPr>
            <p:ph type="ftr" sz="quarter" idx="11"/>
          </p:nvPr>
        </p:nvSpPr>
        <p:spPr/>
        <p:txBody>
          <a:bodyPr/>
          <a:lstStyle/>
          <a:p>
            <a:r>
              <a:t>Department of Software Engineering - Project 2025</a:t>
            </a:r>
          </a:p>
        </p:txBody>
      </p:sp>
      <p:sp>
        <p:nvSpPr>
          <p:cNvPr id="5" name="Slide Number Placeholder 4">
            <a:extLst>
              <a:ext uri="{FF2B5EF4-FFF2-40B4-BE49-F238E27FC236}">
                <a16:creationId xmlns:a16="http://schemas.microsoft.com/office/drawing/2014/main" id="{6AAFD5B9-7353-29C7-2C54-89EBD60C607C}"/>
              </a:ext>
            </a:extLst>
          </p:cNvPr>
          <p:cNvSpPr>
            <a:spLocks noGrp="1"/>
          </p:cNvSpPr>
          <p:nvPr>
            <p:ph type="sldNum" sz="quarter" idx="12"/>
          </p:nvPr>
        </p:nvSpPr>
        <p:spPr/>
        <p:txBody>
          <a:bodyPr/>
          <a:lstStyle/>
          <a:p>
            <a:r>
              <a:t>5</a:t>
            </a:r>
          </a:p>
        </p:txBody>
      </p:sp>
      <p:pic>
        <p:nvPicPr>
          <p:cNvPr id="7" name="Picture 6" descr="A logo with green letters and a chip&#10;&#10;Description automatically generated">
            <a:extLst>
              <a:ext uri="{FF2B5EF4-FFF2-40B4-BE49-F238E27FC236}">
                <a16:creationId xmlns:a16="http://schemas.microsoft.com/office/drawing/2014/main" id="{C1FC5527-6598-C355-28E3-46106C355F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12791"/>
            <a:ext cx="1028700" cy="476250"/>
          </a:xfrm>
          <a:prstGeom prst="rect">
            <a:avLst/>
          </a:prstGeom>
        </p:spPr>
      </p:pic>
      <p:sp>
        <p:nvSpPr>
          <p:cNvPr id="8" name="TextBox 7"/>
          <p:cNvSpPr txBox="1"/>
          <p:nvPr/>
        </p:nvSpPr>
        <p:spPr>
          <a:xfrm>
            <a:off x="868680" y="1481328"/>
            <a:ext cx="10424160" cy="3455818"/>
          </a:xfrm>
          <a:prstGeom prst="rect">
            <a:avLst/>
          </a:prstGeom>
          <a:noFill/>
        </p:spPr>
        <p:txBody>
          <a:bodyPr wrap="square" lIns="73152" tIns="54864" rIns="73152" bIns="36576" anchor="t">
            <a:spAutoFit/>
          </a:bodyPr>
          <a:lstStyle/>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Prepare and split the ISOT Fake News Dataset reproducibly.</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Train a TF-IDF and Logistic Regression baseline and fine-tune </a:t>
            </a:r>
            <a:r>
              <a:rPr dirty="0" err="1"/>
              <a:t>DistilBERT</a:t>
            </a:r>
            <a:r>
              <a:rPr dirty="0"/>
              <a:t>.</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Compare both models using classification metrics and error analysis.</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Build claim extraction and current-source retrieval as a separate analysis path.</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Integrate model inference and evidence results through </a:t>
            </a:r>
            <a:r>
              <a:rPr dirty="0" err="1"/>
              <a:t>FastAPI</a:t>
            </a:r>
            <a:r>
              <a:rPr dirty="0"/>
              <a:t> and a responsive web client.</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Test the system and communicate its limitations responsibly.</a:t>
            </a:r>
          </a:p>
        </p:txBody>
      </p:sp>
    </p:spTree>
    <p:extLst>
      <p:ext uri="{BB962C8B-B14F-4D97-AF65-F5344CB8AC3E}">
        <p14:creationId xmlns:p14="http://schemas.microsoft.com/office/powerpoint/2010/main" val="3299026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dirty="0"/>
              <a:t>METHODOLOGY</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1273" y="46672"/>
            <a:ext cx="657803" cy="711726"/>
          </a:xfrm>
          <a:prstGeom prst="rect">
            <a:avLst/>
          </a:prstGeom>
        </p:spPr>
      </p:pic>
      <p:sp>
        <p:nvSpPr>
          <p:cNvPr id="4" name="Footer Placeholder 3"/>
          <p:cNvSpPr>
            <a:spLocks noGrp="1"/>
          </p:cNvSpPr>
          <p:nvPr>
            <p:ph type="ftr" sz="quarter" idx="11"/>
          </p:nvPr>
        </p:nvSpPr>
        <p:spPr/>
        <p:txBody>
          <a:bodyPr/>
          <a:lstStyle/>
          <a:p>
            <a:r>
              <a:t>Department of Software Engineering - Project 2025</a:t>
            </a:r>
          </a:p>
        </p:txBody>
      </p:sp>
      <p:sp>
        <p:nvSpPr>
          <p:cNvPr id="5" name="Slide Number Placeholder 4">
            <a:extLst>
              <a:ext uri="{FF2B5EF4-FFF2-40B4-BE49-F238E27FC236}">
                <a16:creationId xmlns:a16="http://schemas.microsoft.com/office/drawing/2014/main" id="{4F013CF2-E240-49B7-AE34-B318D306B1CA}"/>
              </a:ext>
            </a:extLst>
          </p:cNvPr>
          <p:cNvSpPr>
            <a:spLocks noGrp="1"/>
          </p:cNvSpPr>
          <p:nvPr>
            <p:ph type="sldNum" sz="quarter" idx="12"/>
          </p:nvPr>
        </p:nvSpPr>
        <p:spPr/>
        <p:txBody>
          <a:bodyPr/>
          <a:lstStyle/>
          <a:p>
            <a:r>
              <a:t>6</a:t>
            </a:r>
          </a:p>
        </p:txBody>
      </p:sp>
      <p:pic>
        <p:nvPicPr>
          <p:cNvPr id="7" name="Picture 6" descr="A logo with green letters and a chip&#10;&#10;Description automatically generated">
            <a:extLst>
              <a:ext uri="{FF2B5EF4-FFF2-40B4-BE49-F238E27FC236}">
                <a16:creationId xmlns:a16="http://schemas.microsoft.com/office/drawing/2014/main" id="{0E94A5F8-459F-E0F5-B38B-C12C5C86BC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164410"/>
            <a:ext cx="1028700" cy="476250"/>
          </a:xfrm>
          <a:prstGeom prst="rect">
            <a:avLst/>
          </a:prstGeom>
        </p:spPr>
      </p:pic>
      <p:sp>
        <p:nvSpPr>
          <p:cNvPr id="8" name="TextBox 7"/>
          <p:cNvSpPr txBox="1"/>
          <p:nvPr/>
        </p:nvSpPr>
        <p:spPr>
          <a:xfrm>
            <a:off x="868680" y="1481328"/>
            <a:ext cx="10424160" cy="4098558"/>
          </a:xfrm>
          <a:prstGeom prst="rect">
            <a:avLst/>
          </a:prstGeom>
          <a:noFill/>
        </p:spPr>
        <p:txBody>
          <a:bodyPr wrap="square" lIns="73152" tIns="54864" rIns="73152" bIns="36576" anchor="t">
            <a:spAutoFit/>
          </a:bodyPr>
          <a:lstStyle/>
          <a:p>
            <a:pPr marL="342900" indent="-342900" algn="l">
              <a:spcAft>
                <a:spcPts val="1600"/>
              </a:spcAft>
              <a:buFont typeface="Arial" panose="020B0604020202020204" pitchFamily="34" charset="0"/>
              <a:buChar char="•"/>
              <a:defRPr sz="2300">
                <a:solidFill>
                  <a:srgbClr val="000000"/>
                </a:solidFill>
                <a:latin typeface="Corbel"/>
              </a:defRPr>
            </a:pPr>
            <a:r>
              <a:rPr dirty="0"/>
              <a:t>Hybrid approach: Agile Scrum for incremental software development and MLDLC for the machine-learning lifecycle.</a:t>
            </a:r>
          </a:p>
          <a:p>
            <a:pPr marL="342900" indent="-342900" algn="l">
              <a:spcAft>
                <a:spcPts val="1600"/>
              </a:spcAft>
              <a:buFont typeface="Arial" panose="020B0604020202020204" pitchFamily="34" charset="0"/>
              <a:buChar char="•"/>
              <a:defRPr sz="2300">
                <a:solidFill>
                  <a:srgbClr val="000000"/>
                </a:solidFill>
                <a:latin typeface="Corbel"/>
              </a:defRPr>
            </a:pPr>
            <a:r>
              <a:rPr dirty="0"/>
              <a:t>Dataset: ISOT Fake News Dataset (Fake.csv and True.csv), cleaned, deduplicated and stratified.</a:t>
            </a:r>
          </a:p>
          <a:p>
            <a:pPr marL="342900" indent="-342900" algn="l">
              <a:spcAft>
                <a:spcPts val="1600"/>
              </a:spcAft>
              <a:buFont typeface="Arial" panose="020B0604020202020204" pitchFamily="34" charset="0"/>
              <a:buChar char="•"/>
              <a:defRPr sz="2300">
                <a:solidFill>
                  <a:srgbClr val="000000"/>
                </a:solidFill>
                <a:latin typeface="Corbel"/>
              </a:defRPr>
            </a:pPr>
            <a:r>
              <a:rPr dirty="0"/>
              <a:t>Models: TF-IDF with Logistic Regression; fine-tuned </a:t>
            </a:r>
            <a:r>
              <a:rPr dirty="0" err="1"/>
              <a:t>DistilBERT</a:t>
            </a:r>
            <a:r>
              <a:rPr dirty="0"/>
              <a:t>.</a:t>
            </a:r>
          </a:p>
          <a:p>
            <a:pPr marL="342900" indent="-342900" algn="l">
              <a:spcAft>
                <a:spcPts val="1600"/>
              </a:spcAft>
              <a:buFont typeface="Arial" panose="020B0604020202020204" pitchFamily="34" charset="0"/>
              <a:buChar char="•"/>
              <a:defRPr sz="2300">
                <a:solidFill>
                  <a:srgbClr val="000000"/>
                </a:solidFill>
                <a:latin typeface="Corbel"/>
              </a:defRPr>
            </a:pPr>
            <a:r>
              <a:rPr dirty="0"/>
              <a:t>Evaluation: held-out test data, accuracy, precision, recall, F1-score, confusion matrices and confidence/error analysis.</a:t>
            </a:r>
          </a:p>
          <a:p>
            <a:pPr marL="342900" indent="-342900" algn="l">
              <a:spcAft>
                <a:spcPts val="1600"/>
              </a:spcAft>
              <a:buFont typeface="Arial" panose="020B0604020202020204" pitchFamily="34" charset="0"/>
              <a:buChar char="•"/>
              <a:defRPr sz="2300">
                <a:solidFill>
                  <a:srgbClr val="000000"/>
                </a:solidFill>
                <a:latin typeface="Corbel"/>
              </a:defRPr>
            </a:pPr>
            <a:r>
              <a:rPr dirty="0"/>
              <a:t>Implementation: </a:t>
            </a:r>
            <a:r>
              <a:rPr dirty="0" err="1"/>
              <a:t>FastAPI</a:t>
            </a:r>
            <a:r>
              <a:rPr dirty="0"/>
              <a:t> backend, Next.js client, Brave Search retrieval and automated tests.</a:t>
            </a:r>
          </a:p>
        </p:txBody>
      </p:sp>
    </p:spTree>
    <p:extLst>
      <p:ext uri="{BB962C8B-B14F-4D97-AF65-F5344CB8AC3E}">
        <p14:creationId xmlns:p14="http://schemas.microsoft.com/office/powerpoint/2010/main" val="3231002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002F6-F641-841A-40A0-D50F6BCA2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2502B-1E2A-DAFF-8019-565E75523D84}"/>
              </a:ext>
            </a:extLst>
          </p:cNvPr>
          <p:cNvSpPr txBox="1">
            <a:spLocks/>
          </p:cNvSpPr>
          <p:nvPr/>
        </p:nvSpPr>
        <p:spPr>
          <a:xfrm>
            <a:off x="662873" y="589041"/>
            <a:ext cx="10515600" cy="71172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dirty="0"/>
              <a:t>DESIGN AND IMPLEMENTATION</a:t>
            </a:r>
          </a:p>
        </p:txBody>
      </p:sp>
      <p:pic>
        <p:nvPicPr>
          <p:cNvPr id="3" name="Picture 2">
            <a:extLst>
              <a:ext uri="{FF2B5EF4-FFF2-40B4-BE49-F238E27FC236}">
                <a16:creationId xmlns:a16="http://schemas.microsoft.com/office/drawing/2014/main" id="{056F7BB6-BA16-10A0-A275-0766C44B37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1273" y="46672"/>
            <a:ext cx="657803" cy="711726"/>
          </a:xfrm>
          <a:prstGeom prst="rect">
            <a:avLst/>
          </a:prstGeom>
        </p:spPr>
      </p:pic>
      <p:sp>
        <p:nvSpPr>
          <p:cNvPr id="4" name="Footer Placeholder 3">
            <a:extLst>
              <a:ext uri="{FF2B5EF4-FFF2-40B4-BE49-F238E27FC236}">
                <a16:creationId xmlns:a16="http://schemas.microsoft.com/office/drawing/2014/main" id="{729A9F13-9321-D26A-8648-58EA10BD6C93}"/>
              </a:ext>
            </a:extLst>
          </p:cNvPr>
          <p:cNvSpPr>
            <a:spLocks noGrp="1"/>
          </p:cNvSpPr>
          <p:nvPr>
            <p:ph type="ftr" sz="quarter" idx="11"/>
          </p:nvPr>
        </p:nvSpPr>
        <p:spPr/>
        <p:txBody>
          <a:bodyPr/>
          <a:lstStyle/>
          <a:p>
            <a:r>
              <a:t>Department of Software Engineering - Project 2025</a:t>
            </a:r>
          </a:p>
        </p:txBody>
      </p:sp>
      <p:sp>
        <p:nvSpPr>
          <p:cNvPr id="5" name="Slide Number Placeholder 4">
            <a:extLst>
              <a:ext uri="{FF2B5EF4-FFF2-40B4-BE49-F238E27FC236}">
                <a16:creationId xmlns:a16="http://schemas.microsoft.com/office/drawing/2014/main" id="{77E102E2-CCB3-03CE-1666-70F52982C7BC}"/>
              </a:ext>
            </a:extLst>
          </p:cNvPr>
          <p:cNvSpPr>
            <a:spLocks noGrp="1"/>
          </p:cNvSpPr>
          <p:nvPr>
            <p:ph type="sldNum" sz="quarter" idx="12"/>
          </p:nvPr>
        </p:nvSpPr>
        <p:spPr/>
        <p:txBody>
          <a:bodyPr/>
          <a:lstStyle/>
          <a:p>
            <a:r>
              <a:t>7</a:t>
            </a:r>
          </a:p>
        </p:txBody>
      </p:sp>
      <p:pic>
        <p:nvPicPr>
          <p:cNvPr id="7" name="Picture 6" descr="A logo with green letters and a chip&#10;&#10;Description automatically generated">
            <a:extLst>
              <a:ext uri="{FF2B5EF4-FFF2-40B4-BE49-F238E27FC236}">
                <a16:creationId xmlns:a16="http://schemas.microsoft.com/office/drawing/2014/main" id="{D7D8328C-A8DB-82F8-293E-B57B0DC2B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164410"/>
            <a:ext cx="1028700" cy="476250"/>
          </a:xfrm>
          <a:prstGeom prst="rect">
            <a:avLst/>
          </a:prstGeom>
        </p:spPr>
      </p:pic>
      <p:sp>
        <p:nvSpPr>
          <p:cNvPr id="8" name="TextBox 7"/>
          <p:cNvSpPr txBox="1"/>
          <p:nvPr/>
        </p:nvSpPr>
        <p:spPr>
          <a:xfrm>
            <a:off x="868680" y="1481328"/>
            <a:ext cx="10424160" cy="4379148"/>
          </a:xfrm>
          <a:prstGeom prst="rect">
            <a:avLst/>
          </a:prstGeom>
          <a:noFill/>
        </p:spPr>
        <p:txBody>
          <a:bodyPr wrap="square" lIns="73152" tIns="54864" rIns="73152" bIns="36576" anchor="t">
            <a:spAutoFit/>
          </a:bodyPr>
          <a:lstStyle/>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User submits article text in the web client.</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err="1"/>
              <a:t>FastAPI</a:t>
            </a:r>
            <a:r>
              <a:rPr dirty="0"/>
              <a:t> validates the request and coordinates two distinct paths:</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Classification path: selected trained model returns a label and confidence estimate.</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Evidence path: extract claims, search public sources, rank relevant passages and report evidence status.</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The API returns the prediction and source review separately; the interface presents both with source links and a cautionary note.</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Retrieved pages are candidate material for human review, not proof by themselves.</a:t>
            </a:r>
          </a:p>
        </p:txBody>
      </p:sp>
    </p:spTree>
    <p:extLst>
      <p:ext uri="{BB962C8B-B14F-4D97-AF65-F5344CB8AC3E}">
        <p14:creationId xmlns:p14="http://schemas.microsoft.com/office/powerpoint/2010/main" val="1605897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8511B-0785-38EC-AB60-02A4DD482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6B00B-A205-82BA-32E1-6307367D59B8}"/>
              </a:ext>
            </a:extLst>
          </p:cNvPr>
          <p:cNvSpPr txBox="1">
            <a:spLocks/>
          </p:cNvSpPr>
          <p:nvPr/>
        </p:nvSpPr>
        <p:spPr>
          <a:xfrm>
            <a:off x="2079522" y="284798"/>
            <a:ext cx="6531078" cy="600106"/>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dirty="0"/>
              <a:t>RESULTS/FINDINGS</a:t>
            </a:r>
          </a:p>
        </p:txBody>
      </p:sp>
      <p:pic>
        <p:nvPicPr>
          <p:cNvPr id="3" name="Picture 2">
            <a:extLst>
              <a:ext uri="{FF2B5EF4-FFF2-40B4-BE49-F238E27FC236}">
                <a16:creationId xmlns:a16="http://schemas.microsoft.com/office/drawing/2014/main" id="{1F6189DA-04A0-8E9E-D4EF-6F35A77548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1273" y="46672"/>
            <a:ext cx="657803" cy="711726"/>
          </a:xfrm>
          <a:prstGeom prst="rect">
            <a:avLst/>
          </a:prstGeom>
        </p:spPr>
      </p:pic>
      <p:sp>
        <p:nvSpPr>
          <p:cNvPr id="4" name="Footer Placeholder 3">
            <a:extLst>
              <a:ext uri="{FF2B5EF4-FFF2-40B4-BE49-F238E27FC236}">
                <a16:creationId xmlns:a16="http://schemas.microsoft.com/office/drawing/2014/main" id="{B5F5735D-9617-933B-F12B-1EDE8B10981F}"/>
              </a:ext>
            </a:extLst>
          </p:cNvPr>
          <p:cNvSpPr>
            <a:spLocks noGrp="1"/>
          </p:cNvSpPr>
          <p:nvPr>
            <p:ph type="ftr" sz="quarter" idx="11"/>
          </p:nvPr>
        </p:nvSpPr>
        <p:spPr/>
        <p:txBody>
          <a:bodyPr/>
          <a:lstStyle/>
          <a:p>
            <a:r>
              <a:t>Department of Software Engineering - Project 2025</a:t>
            </a:r>
          </a:p>
        </p:txBody>
      </p:sp>
      <p:sp>
        <p:nvSpPr>
          <p:cNvPr id="5" name="Slide Number Placeholder 4">
            <a:extLst>
              <a:ext uri="{FF2B5EF4-FFF2-40B4-BE49-F238E27FC236}">
                <a16:creationId xmlns:a16="http://schemas.microsoft.com/office/drawing/2014/main" id="{FEB7CF86-BB52-C69C-93F2-33287B9B7C37}"/>
              </a:ext>
            </a:extLst>
          </p:cNvPr>
          <p:cNvSpPr>
            <a:spLocks noGrp="1"/>
          </p:cNvSpPr>
          <p:nvPr>
            <p:ph type="sldNum" sz="quarter" idx="12"/>
          </p:nvPr>
        </p:nvSpPr>
        <p:spPr/>
        <p:txBody>
          <a:bodyPr/>
          <a:lstStyle/>
          <a:p>
            <a:r>
              <a:t>8</a:t>
            </a:r>
          </a:p>
        </p:txBody>
      </p:sp>
      <p:pic>
        <p:nvPicPr>
          <p:cNvPr id="7" name="Picture 6" descr="A logo with green letters and a chip&#10;&#10;Description automatically generated">
            <a:extLst>
              <a:ext uri="{FF2B5EF4-FFF2-40B4-BE49-F238E27FC236}">
                <a16:creationId xmlns:a16="http://schemas.microsoft.com/office/drawing/2014/main" id="{721F20B4-7508-85D4-03FC-6B3DF101F3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164410"/>
            <a:ext cx="1028700" cy="476250"/>
          </a:xfrm>
          <a:prstGeom prst="rect">
            <a:avLst/>
          </a:prstGeom>
        </p:spPr>
      </p:pic>
      <p:sp>
        <p:nvSpPr>
          <p:cNvPr id="8" name="TextBox 7"/>
          <p:cNvSpPr txBox="1"/>
          <p:nvPr/>
        </p:nvSpPr>
        <p:spPr>
          <a:xfrm>
            <a:off x="868680" y="1481328"/>
            <a:ext cx="10424160" cy="4840812"/>
          </a:xfrm>
          <a:prstGeom prst="rect">
            <a:avLst/>
          </a:prstGeom>
          <a:noFill/>
        </p:spPr>
        <p:txBody>
          <a:bodyPr wrap="square" lIns="73152" tIns="54864" rIns="73152" bIns="36576" anchor="t">
            <a:spAutoFit/>
          </a:bodyPr>
          <a:lstStyle/>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Prepared dataset: 39,100 articles ? 17,905 likely fake and 21,195 likely real.</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TF-IDF + Logistic Regression: 99.00% accuracy and 0.9899 macro F1 on the random held-out test set.</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err="1"/>
              <a:t>DistilBERT</a:t>
            </a:r>
            <a:r>
              <a:rPr dirty="0"/>
              <a:t>: 99.95% accuracy and 0.9995 macro F1 on the same test set.</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err="1"/>
              <a:t>DistilBERT</a:t>
            </a:r>
            <a:r>
              <a:rPr dirty="0"/>
              <a:t> made two errors; both were real Reuters articles classified as likely fake with high confidence.</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The results are strong on this ISOT split but do not establish real-world fact-checking accuracy or </a:t>
            </a:r>
            <a:r>
              <a:rPr dirty="0" err="1"/>
              <a:t>generalisation</a:t>
            </a:r>
            <a:r>
              <a:rPr dirty="0"/>
              <a:t> to Nigerian news.</a:t>
            </a:r>
          </a:p>
          <a:p>
            <a:pPr marL="342900" indent="-342900" algn="l">
              <a:lnSpc>
                <a:spcPct val="150000"/>
              </a:lnSpc>
              <a:spcAft>
                <a:spcPts val="1000"/>
              </a:spcAft>
              <a:buFont typeface="Arial" panose="020B0604020202020204" pitchFamily="34" charset="0"/>
              <a:buChar char="•"/>
              <a:defRPr sz="2000">
                <a:solidFill>
                  <a:srgbClr val="000000"/>
                </a:solidFill>
                <a:latin typeface="Corbel"/>
              </a:defRPr>
            </a:pPr>
            <a:r>
              <a:rPr dirty="0"/>
              <a:t>The implemented prototype keeps model predictions distinct from related-source retrieval.</a:t>
            </a:r>
          </a:p>
        </p:txBody>
      </p:sp>
    </p:spTree>
    <p:extLst>
      <p:ext uri="{BB962C8B-B14F-4D97-AF65-F5344CB8AC3E}">
        <p14:creationId xmlns:p14="http://schemas.microsoft.com/office/powerpoint/2010/main" val="3794690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6091A-AADB-110E-A34A-36C3113132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E2510C-D49A-E94F-5B59-ACD357D92833}"/>
              </a:ext>
            </a:extLst>
          </p:cNvPr>
          <p:cNvSpPr txBox="1">
            <a:spLocks/>
          </p:cNvSpPr>
          <p:nvPr/>
        </p:nvSpPr>
        <p:spPr>
          <a:xfrm>
            <a:off x="2079522" y="284798"/>
            <a:ext cx="6531078" cy="600106"/>
          </a:xfrm>
          <a:prstGeom prst="rect">
            <a:avLst/>
          </a:prstGeom>
        </p:spPr>
        <p:txBody>
          <a:bodyP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dirty="0"/>
              <a:t>CONTRIBUTION TO KNOWLEDGE</a:t>
            </a:r>
          </a:p>
        </p:txBody>
      </p:sp>
      <p:pic>
        <p:nvPicPr>
          <p:cNvPr id="3" name="Picture 2">
            <a:extLst>
              <a:ext uri="{FF2B5EF4-FFF2-40B4-BE49-F238E27FC236}">
                <a16:creationId xmlns:a16="http://schemas.microsoft.com/office/drawing/2014/main" id="{0E0AA747-30A6-6D37-1DE3-60CA4A1BB5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51273" y="46672"/>
            <a:ext cx="657803" cy="711726"/>
          </a:xfrm>
          <a:prstGeom prst="rect">
            <a:avLst/>
          </a:prstGeom>
        </p:spPr>
      </p:pic>
      <p:sp>
        <p:nvSpPr>
          <p:cNvPr id="4" name="Footer Placeholder 3">
            <a:extLst>
              <a:ext uri="{FF2B5EF4-FFF2-40B4-BE49-F238E27FC236}">
                <a16:creationId xmlns:a16="http://schemas.microsoft.com/office/drawing/2014/main" id="{62834879-5FB4-89FA-5AC5-2E82A0CA9624}"/>
              </a:ext>
            </a:extLst>
          </p:cNvPr>
          <p:cNvSpPr>
            <a:spLocks noGrp="1"/>
          </p:cNvSpPr>
          <p:nvPr>
            <p:ph type="ftr" sz="quarter" idx="11"/>
          </p:nvPr>
        </p:nvSpPr>
        <p:spPr/>
        <p:txBody>
          <a:bodyPr/>
          <a:lstStyle/>
          <a:p>
            <a:r>
              <a:t>Department of Software Engineering - Project 2025</a:t>
            </a:r>
          </a:p>
        </p:txBody>
      </p:sp>
      <p:sp>
        <p:nvSpPr>
          <p:cNvPr id="5" name="Slide Number Placeholder 4">
            <a:extLst>
              <a:ext uri="{FF2B5EF4-FFF2-40B4-BE49-F238E27FC236}">
                <a16:creationId xmlns:a16="http://schemas.microsoft.com/office/drawing/2014/main" id="{602C8DA8-AB12-0395-F01A-0BF6C1822165}"/>
              </a:ext>
            </a:extLst>
          </p:cNvPr>
          <p:cNvSpPr>
            <a:spLocks noGrp="1"/>
          </p:cNvSpPr>
          <p:nvPr>
            <p:ph type="sldNum" sz="quarter" idx="12"/>
          </p:nvPr>
        </p:nvSpPr>
        <p:spPr/>
        <p:txBody>
          <a:bodyPr/>
          <a:lstStyle/>
          <a:p>
            <a:r>
              <a:t>9</a:t>
            </a:r>
          </a:p>
        </p:txBody>
      </p:sp>
      <p:pic>
        <p:nvPicPr>
          <p:cNvPr id="7" name="Picture 6" descr="A logo with green letters and a chip&#10;&#10;Description automatically generated">
            <a:extLst>
              <a:ext uri="{FF2B5EF4-FFF2-40B4-BE49-F238E27FC236}">
                <a16:creationId xmlns:a16="http://schemas.microsoft.com/office/drawing/2014/main" id="{C1B8E253-56E0-E974-01EF-2EDB6D4982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23" y="164410"/>
            <a:ext cx="1028700" cy="476250"/>
          </a:xfrm>
          <a:prstGeom prst="rect">
            <a:avLst/>
          </a:prstGeom>
        </p:spPr>
      </p:pic>
      <p:sp>
        <p:nvSpPr>
          <p:cNvPr id="8" name="TextBox 7"/>
          <p:cNvSpPr txBox="1"/>
          <p:nvPr/>
        </p:nvSpPr>
        <p:spPr>
          <a:xfrm>
            <a:off x="868680" y="1481328"/>
            <a:ext cx="10424160" cy="4900316"/>
          </a:xfrm>
          <a:prstGeom prst="rect">
            <a:avLst/>
          </a:prstGeom>
          <a:noFill/>
        </p:spPr>
        <p:txBody>
          <a:bodyPr wrap="square" lIns="73152" tIns="54864" rIns="73152" bIns="36576" anchor="t">
            <a:spAutoFit/>
          </a:bodyPr>
          <a:lstStyle/>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Provides a reproducible comparison of a classical NLP baseline and fine-tuned </a:t>
            </a:r>
            <a:r>
              <a:rPr dirty="0" err="1"/>
              <a:t>DistilBERT</a:t>
            </a:r>
            <a:r>
              <a:rPr dirty="0"/>
              <a:t> on a shared dataset and test split.</a:t>
            </a:r>
          </a:p>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Documents why benchmark accuracy and model confidence must be interpreted alongside errors and dataset limitations.</a:t>
            </a:r>
          </a:p>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Demonstrates an integrated prototype that presents learned classification and current-source retrieval as separate signals.</a:t>
            </a:r>
          </a:p>
          <a:p>
            <a:pPr marL="342900" indent="-342900" algn="l">
              <a:lnSpc>
                <a:spcPct val="150000"/>
              </a:lnSpc>
              <a:spcAft>
                <a:spcPts val="1600"/>
              </a:spcAft>
              <a:buFont typeface="Arial" panose="020B0604020202020204" pitchFamily="34" charset="0"/>
              <a:buChar char="•"/>
              <a:defRPr sz="2300">
                <a:solidFill>
                  <a:srgbClr val="000000"/>
                </a:solidFill>
                <a:latin typeface="Corbel"/>
              </a:defRPr>
            </a:pPr>
            <a:r>
              <a:rPr dirty="0"/>
              <a:t>Provides a foundation for future evaluation with independent, recent and locally representative news data.</a:t>
            </a:r>
          </a:p>
        </p:txBody>
      </p:sp>
    </p:spTree>
    <p:extLst>
      <p:ext uri="{BB962C8B-B14F-4D97-AF65-F5344CB8AC3E}">
        <p14:creationId xmlns:p14="http://schemas.microsoft.com/office/powerpoint/2010/main" val="1113124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p:cNvSpPr>
          <p:nvPr/>
        </p:nvSpPr>
        <p:spPr>
          <a:xfrm>
            <a:off x="2916844" y="2863029"/>
            <a:ext cx="6471919" cy="14598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t>QUESTIONS?</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79920" y="26962"/>
            <a:ext cx="787333" cy="851874"/>
          </a:xfrm>
          <a:prstGeom prst="rect">
            <a:avLst/>
          </a:prstGeom>
        </p:spPr>
      </p:pic>
      <p:sp>
        <p:nvSpPr>
          <p:cNvPr id="4" name="Footer Placeholder 3"/>
          <p:cNvSpPr>
            <a:spLocks noGrp="1"/>
          </p:cNvSpPr>
          <p:nvPr>
            <p:ph type="ftr" sz="quarter" idx="11"/>
          </p:nvPr>
        </p:nvSpPr>
        <p:spPr/>
        <p:txBody>
          <a:bodyPr/>
          <a:lstStyle/>
          <a:p>
            <a:r>
              <a:t>Department of Software Engineering - Project 2025</a:t>
            </a:r>
          </a:p>
        </p:txBody>
      </p:sp>
      <p:sp>
        <p:nvSpPr>
          <p:cNvPr id="5" name="Slide Number Placeholder 4">
            <a:extLst>
              <a:ext uri="{FF2B5EF4-FFF2-40B4-BE49-F238E27FC236}">
                <a16:creationId xmlns:a16="http://schemas.microsoft.com/office/drawing/2014/main" id="{DACB4B0A-D17E-4CDB-A3CE-5970C97DEA10}"/>
              </a:ext>
            </a:extLst>
          </p:cNvPr>
          <p:cNvSpPr>
            <a:spLocks noGrp="1"/>
          </p:cNvSpPr>
          <p:nvPr>
            <p:ph type="sldNum" sz="quarter" idx="12"/>
          </p:nvPr>
        </p:nvSpPr>
        <p:spPr/>
        <p:txBody>
          <a:bodyPr/>
          <a:lstStyle/>
          <a:p>
            <a:r>
              <a:t>10</a:t>
            </a:r>
          </a:p>
        </p:txBody>
      </p:sp>
      <p:pic>
        <p:nvPicPr>
          <p:cNvPr id="7" name="Picture 6" descr="A logo with green letters and a chip&#10;&#10;Description automatically generated">
            <a:extLst>
              <a:ext uri="{FF2B5EF4-FFF2-40B4-BE49-F238E27FC236}">
                <a16:creationId xmlns:a16="http://schemas.microsoft.com/office/drawing/2014/main" id="{CCACE4D8-B727-00FB-6E4F-4CF49BCB08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747" y="202497"/>
            <a:ext cx="1028700" cy="476250"/>
          </a:xfrm>
          <a:prstGeom prst="rect">
            <a:avLst/>
          </a:prstGeom>
        </p:spPr>
      </p:pic>
    </p:spTree>
    <p:extLst>
      <p:ext uri="{BB962C8B-B14F-4D97-AF65-F5344CB8AC3E}">
        <p14:creationId xmlns:p14="http://schemas.microsoft.com/office/powerpoint/2010/main" val="3662799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txBox="1">
            <a:spLocks/>
          </p:cNvSpPr>
          <p:nvPr/>
        </p:nvSpPr>
        <p:spPr>
          <a:xfrm>
            <a:off x="1603332" y="1427967"/>
            <a:ext cx="7828767" cy="21294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dirty="0"/>
              <a:t>THANK YOU FOR LISTENING</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53800" y="77274"/>
            <a:ext cx="719178" cy="778132"/>
          </a:xfrm>
          <a:prstGeom prst="rect">
            <a:avLst/>
          </a:prstGeom>
        </p:spPr>
      </p:pic>
      <p:sp>
        <p:nvSpPr>
          <p:cNvPr id="4" name="Footer Placeholder 3"/>
          <p:cNvSpPr>
            <a:spLocks noGrp="1"/>
          </p:cNvSpPr>
          <p:nvPr>
            <p:ph type="ftr" sz="quarter" idx="11"/>
          </p:nvPr>
        </p:nvSpPr>
        <p:spPr/>
        <p:txBody>
          <a:bodyPr/>
          <a:lstStyle/>
          <a:p>
            <a:r>
              <a:t>Department of Software Engineering - Project 2025</a:t>
            </a:r>
          </a:p>
        </p:txBody>
      </p:sp>
      <p:sp>
        <p:nvSpPr>
          <p:cNvPr id="5" name="Slide Number Placeholder 4">
            <a:extLst>
              <a:ext uri="{FF2B5EF4-FFF2-40B4-BE49-F238E27FC236}">
                <a16:creationId xmlns:a16="http://schemas.microsoft.com/office/drawing/2014/main" id="{DACB4B0A-D17E-4CDB-A3CE-5970C97DEA10}"/>
              </a:ext>
            </a:extLst>
          </p:cNvPr>
          <p:cNvSpPr>
            <a:spLocks noGrp="1"/>
          </p:cNvSpPr>
          <p:nvPr>
            <p:ph type="sldNum" sz="quarter" idx="12"/>
          </p:nvPr>
        </p:nvSpPr>
        <p:spPr/>
        <p:txBody>
          <a:bodyPr/>
          <a:lstStyle/>
          <a:p>
            <a:r>
              <a:t>11</a:t>
            </a:r>
          </a:p>
        </p:txBody>
      </p:sp>
      <p:pic>
        <p:nvPicPr>
          <p:cNvPr id="7" name="Picture 6" descr="A logo with green letters and a chip&#10;&#10;Description automatically generated">
            <a:extLst>
              <a:ext uri="{FF2B5EF4-FFF2-40B4-BE49-F238E27FC236}">
                <a16:creationId xmlns:a16="http://schemas.microsoft.com/office/drawing/2014/main" id="{A030377E-0F32-F427-E999-860F55DEB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747" y="77274"/>
            <a:ext cx="1028700" cy="476250"/>
          </a:xfrm>
          <a:prstGeom prst="rect">
            <a:avLst/>
          </a:prstGeom>
        </p:spPr>
      </p:pic>
    </p:spTree>
    <p:extLst>
      <p:ext uri="{BB962C8B-B14F-4D97-AF65-F5344CB8AC3E}">
        <p14:creationId xmlns:p14="http://schemas.microsoft.com/office/powerpoint/2010/main" val="3221025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3676</TotalTime>
  <Words>699</Words>
  <Application>Microsoft Office PowerPoint</Application>
  <PresentationFormat>Widescreen</PresentationFormat>
  <Paragraphs>76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Corbel</vt:lpstr>
      <vt:lpstr>Office Theme</vt:lpstr>
      <vt:lpstr>DESIGN AND IMPLEMENTATION OF A FAKE NEWS DETECTION SYSTEM USING NATURAL LANGUAGE PROCESSING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CHECKLIST FOR PRESENTERS   cover slide: please provide us with your name, your department and your nationality. Do not change any of the logos or the layout of the cover slide and enter your information only in the placeholders provided using the same font/siz  first content slide: explain the particular cyber security challenge you want to solve as the problem domain.  second content slide: make sure to explain your proposed solution to combating cyber crime in Nigeria. Restrict your solution to a single point that can be developed further in a full blown research work.  Please keep in mind that you have 5min to make your presentation before the question and answer section will commence.</dc:title>
  <dc:creator>Amadi</dc:creator>
  <cp:lastModifiedBy>Ifiezibe Samuel</cp:lastModifiedBy>
  <cp:revision>31</cp:revision>
  <cp:lastPrinted>2018-08-23T20:36:32Z</cp:lastPrinted>
  <dcterms:created xsi:type="dcterms:W3CDTF">2018-07-05T09:04:15Z</dcterms:created>
  <dcterms:modified xsi:type="dcterms:W3CDTF">2026-10-04T21:24:01Z</dcterms:modified>
</cp:coreProperties>
</file>